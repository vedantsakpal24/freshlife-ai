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</a:defRPr>
            </a:pPr>
            <a:r>
              <a:t>🌿 FRESHLIFE AI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Smart Fruit &amp; Vegetable Freshness Detection &amp; Shelf-Life Estimation</a:t>
            </a:r>
          </a:p>
          <a:p>
            <a:pPr>
              <a:spcAft>
                <a:spcPts val="2800"/>
              </a:spcAft>
              <a:defRPr sz="1500">
                <a:solidFill>
                  <a:srgbClr val="C8DCCD"/>
                </a:solidFill>
              </a:defRPr>
            </a:pPr>
            <a:r>
              <a:t>An end-to-end computer vision and environmental intelligence platform designed to combat food waste through accurate freshness scoring and adaptive shelf-life predictions.</a:t>
            </a:r>
          </a:p>
          <a:p>
            <a:pPr>
              <a:defRPr sz="1200">
                <a:solidFill>
                  <a:srgbClr val="22C55E"/>
                </a:solidFill>
              </a:defRPr>
            </a:pPr>
            <a:r>
              <a:t>Full Stack Architecture  |  Ultralytics YOLO  |  FastAPI  |  Next.js 16  | 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The Problem: Perishable Food Spoilage &amp; Waste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CRITICAL ISSUE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Global Food Waste Crisis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1.3 Billion Tons: </a:t>
            </a:r>
            <a:r>
              <a:rPr b="0">
                <a:solidFill>
                  <a:srgbClr val="64748B"/>
                </a:solidFill>
              </a:rPr>
              <a:t>Global annual food waste, with fruits and vegetables having the highest wastage rate (~45%).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Economic Loss: </a:t>
            </a:r>
            <a:r>
              <a:rPr b="0">
                <a:solidFill>
                  <a:srgbClr val="64748B"/>
                </a:solidFill>
              </a:rPr>
              <a:t>Billions lost annually across households, grocery stores, and supply chain operators.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Environmental Impact: </a:t>
            </a:r>
            <a:r>
              <a:rPr b="0">
                <a:solidFill>
                  <a:srgbClr val="64748B"/>
                </a:solidFill>
              </a:rPr>
              <a:t>Decomposing food in landfills contributes heavily to methane emissions.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DAILY FRICTION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Consumer &amp; Retail Challenges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Subjective Visual Inspection: </a:t>
            </a:r>
            <a:r>
              <a:rPr b="0">
                <a:solidFill>
                  <a:srgbClr val="64748B"/>
                </a:solidFill>
              </a:rPr>
              <a:t>Consumers struggle to judge internal fruit freshness accurately.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Static Expiration Dates: </a:t>
            </a:r>
            <a:r>
              <a:rPr b="0">
                <a:solidFill>
                  <a:srgbClr val="64748B"/>
                </a:solidFill>
              </a:rPr>
              <a:t>Produce does not come with fixed expiry dates; it degrades dynamically.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Suboptimal Storage: </a:t>
            </a:r>
            <a:r>
              <a:rPr b="0">
                <a:solidFill>
                  <a:srgbClr val="64748B"/>
                </a:solidFill>
              </a:rPr>
              <a:t>Lack of knowledge on temperature and storage condition impacts.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OUR APPROACH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The Solution: FreshLife AI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Visual AI Scanning: </a:t>
            </a:r>
            <a:r>
              <a:rPr b="0">
                <a:solidFill>
                  <a:srgbClr val="64748B"/>
                </a:solidFill>
              </a:rPr>
              <a:t>Instant classification of produce and ripeness state from a single photo.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Environmental Adaptation: </a:t>
            </a:r>
            <a:r>
              <a:rPr b="0">
                <a:solidFill>
                  <a:srgbClr val="64748B"/>
                </a:solidFill>
              </a:rPr>
              <a:t>Considers ambient temperature, humidity, and storage type.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Actionable Guidance: </a:t>
            </a:r>
            <a:r>
              <a:rPr b="0">
                <a:solidFill>
                  <a:srgbClr val="64748B"/>
                </a:solidFill>
              </a:rPr>
              <a:t>Provides estimated shelf-life days and tailored consumption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Project Objectives &amp; Key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1. High-Accuracy Visual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Train and deploy a lightweight YOLO model (`best.pt`) supporting 24 distinct produce conditions.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Achieve sub-second inference on CPU for fast real-time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2. Dynamic Environmental Shelf-Life Engine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Combine visual condition with storage parameters (temp, humidity, storage method).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Deliver realistic Min–Max shelf life day ranges rather than static guesses.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3. Explainable AI &amp; Consumer Actionability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Provide transparent reasoning behind every score to build user trust.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Generate proactive storage recommendations (e.g., refrigerate, consume immediately).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4. Cross-Platform Accessibility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Develop responsive Next.js frontend with live camera streaming and mobile support.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Cloud persistence with MongoDB Atlas for scan history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CLIENT SIDE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Framework: </a:t>
            </a:r>
            <a:r>
              <a:rPr b="0">
                <a:solidFill>
                  <a:srgbClr val="64748B"/>
                </a:solidFill>
              </a:rPr>
              <a:t>Next.js 16 (App Router) &amp; React 19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Styling: </a:t>
            </a:r>
            <a:r>
              <a:rPr b="0">
                <a:solidFill>
                  <a:srgbClr val="64748B"/>
                </a:solidFill>
              </a:rPr>
              <a:t>Tailwind CSS v4 (Modern Design)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Language: </a:t>
            </a:r>
            <a:r>
              <a:rPr b="0">
                <a:solidFill>
                  <a:srgbClr val="64748B"/>
                </a:solidFill>
              </a:rPr>
              <a:t>TypeScript (Strict Types)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Capabilities: </a:t>
            </a:r>
            <a:r>
              <a:rPr b="0">
                <a:solidFill>
                  <a:srgbClr val="64748B"/>
                </a:solidFill>
              </a:rPr>
              <a:t>Camera streaming, file upload, reactive progress bar, score gauges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CORE BACKEND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ML &amp; Backend Layer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Engine: </a:t>
            </a:r>
            <a:r>
              <a:rPr b="0">
                <a:solidFill>
                  <a:srgbClr val="64748B"/>
                </a:solidFill>
              </a:rPr>
              <a:t>FastAPI (Asynchronous Python)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Model Runtime: </a:t>
            </a:r>
            <a:r>
              <a:rPr b="0">
                <a:solidFill>
                  <a:srgbClr val="64748B"/>
                </a:solidFill>
              </a:rPr>
              <a:t>Ultralytics YOLO (`best.pt`)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Image Processing: </a:t>
            </a:r>
            <a:r>
              <a:rPr b="0">
                <a:solidFill>
                  <a:srgbClr val="64748B"/>
                </a:solidFill>
              </a:rPr>
              <a:t>Pillow (PIL), NumPy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Lifecycle: </a:t>
            </a:r>
            <a:r>
              <a:rPr b="0">
                <a:solidFill>
                  <a:srgbClr val="64748B"/>
                </a:solidFill>
              </a:rPr>
              <a:t>Single startup model loading with persistent memory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STORAGE &amp; CLOUD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Database &amp; Cloud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Database: </a:t>
            </a:r>
            <a:r>
              <a:rPr b="0">
                <a:solidFill>
                  <a:srgbClr val="64748B"/>
                </a:solidFill>
              </a:rPr>
              <a:t>MongoDB Atlas Cloud Cluster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ODM: </a:t>
            </a:r>
            <a:r>
              <a:rPr b="0">
                <a:solidFill>
                  <a:srgbClr val="64748B"/>
                </a:solidFill>
              </a:rPr>
              <a:t>Mongoose with cached connection pools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Deployment: </a:t>
            </a:r>
            <a:r>
              <a:rPr b="0">
                <a:solidFill>
                  <a:srgbClr val="64748B"/>
                </a:solidFill>
              </a:rPr>
              <a:t>Vercel (Frontend) &amp; Cloud Container (Backend)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Security: </a:t>
            </a:r>
            <a:r>
              <a:rPr b="0">
                <a:solidFill>
                  <a:srgbClr val="64748B"/>
                </a:solidFill>
              </a:rPr>
              <a:t>HTTPS encryption for camera permissions &amp; TLS connections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Computer Vision Model: YOLO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MODEL SPECS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Model Specifications &amp; Classes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Architecture: </a:t>
            </a:r>
            <a:r>
              <a:rPr b="0">
                <a:solidFill>
                  <a:srgbClr val="64748B"/>
                </a:solidFill>
              </a:rPr>
              <a:t>Custom YOLO Deep Neural Network (`best.pt`)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Model Footprint: </a:t>
            </a:r>
            <a:r>
              <a:rPr b="0">
                <a:solidFill>
                  <a:srgbClr val="64748B"/>
                </a:solidFill>
              </a:rPr>
              <a:t>Lightweight ~3.2 MB (Ideal for fast CPU edge inference)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Supported Fruits: </a:t>
            </a:r>
            <a:r>
              <a:rPr b="0">
                <a:solidFill>
                  <a:srgbClr val="64748B"/>
                </a:solidFill>
              </a:rPr>
              <a:t>Banana, Orange, Papaya, Pineapple, Apple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Supported Vegetables: </a:t>
            </a:r>
            <a:r>
              <a:rPr b="0">
                <a:solidFill>
                  <a:srgbClr val="64748B"/>
                </a:solidFill>
              </a:rPr>
              <a:t>Bittermelon, Cucumber, Eggplant, Tomato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Condition Classes: </a:t>
            </a:r>
            <a:r>
              <a:rPr b="0">
                <a:solidFill>
                  <a:srgbClr val="64748B"/>
                </a:solidFill>
              </a:rPr>
              <a:t>Fresh, Semi-Fresh, Rotten (Total 24 combinations)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Inference Latency: </a:t>
            </a:r>
            <a:r>
              <a:rPr b="0">
                <a:solidFill>
                  <a:srgbClr val="64748B"/>
                </a:solidFill>
              </a:rPr>
              <a:t>&lt; 250ms per scan on standard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PIPELINE LOGIC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Inference Pipeline Flow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1. Input Ingestion: </a:t>
            </a:r>
            <a:r>
              <a:rPr b="0">
                <a:solidFill>
                  <a:srgbClr val="64748B"/>
                </a:solidFill>
              </a:rPr>
              <a:t>Image decoded in-memory as RGB via PIL without temp disk writes.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2. Forward Pass: </a:t>
            </a:r>
            <a:r>
              <a:rPr b="0">
                <a:solidFill>
                  <a:srgbClr val="64748B"/>
                </a:solidFill>
              </a:rPr>
              <a:t>Model extracts top probability class and confidence score.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3. Token Splitting: </a:t>
            </a:r>
            <a:r>
              <a:rPr b="0">
                <a:solidFill>
                  <a:srgbClr val="64748B"/>
                </a:solidFill>
              </a:rPr>
              <a:t>Decodes class string (e.g. `fresh_banana` → Produce: Banana, Condition: Fresh).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4. Freshness Scoring: </a:t>
            </a:r>
            <a:r>
              <a:rPr b="0">
                <a:solidFill>
                  <a:srgbClr val="64748B"/>
                </a:solidFill>
              </a:rPr>
              <a:t>Computes calibrated Freshness Score (0–100 scale).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5. Dual Compatibility: </a:t>
            </a:r>
            <a:r>
              <a:rPr b="0">
                <a:solidFill>
                  <a:srgbClr val="64748B"/>
                </a:solidFill>
              </a:rPr>
              <a:t>Auto-handles both YOLO classification (`probs`) and detection (`boxes`).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ALGORITHMIC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Environmental Shelf-Life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CALCULATION FORMULA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Multi-Factor Environmental Model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Base Estimation: </a:t>
            </a:r>
            <a:r>
              <a:rPr b="0">
                <a:solidFill>
                  <a:srgbClr val="64748B"/>
                </a:solidFill>
              </a:rPr>
              <a:t>Establishes baseline lifespan for detected produce condition at 25°C.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Temperature Impact: </a:t>
            </a:r>
            <a:r>
              <a:rPr b="0">
                <a:solidFill>
                  <a:srgbClr val="64748B"/>
                </a:solidFill>
              </a:rPr>
              <a:t>Applies exponential factor for deviations above/below baseline temperature: per-degree degradation rate.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Humidity Adjustments: </a:t>
            </a:r>
            <a:r>
              <a:rPr b="0">
                <a:solidFill>
                  <a:srgbClr val="64748B"/>
                </a:solidFill>
              </a:rPr>
              <a:t>Penalizes extreme moisture (&gt;80% risk of mold) or dryness (&lt;30% risk of desiccation).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Storage Multipliers: </a:t>
            </a:r>
            <a:r>
              <a:rPr b="0">
                <a:solidFill>
                  <a:srgbClr val="64748B"/>
                </a:solidFill>
              </a:rPr>
              <a:t>Room Temperature (1.0x), Pantry (1.2x), Refrigerator (2.5x), Freezer (6.0x).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CASE STUDIES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Real-World Prediction Example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Scenario 1: Fresh Banana @ Room Temp (25°C): </a:t>
            </a:r>
            <a:r>
              <a:rPr b="0">
                <a:solidFill>
                  <a:srgbClr val="64748B"/>
                </a:solidFill>
              </a:rPr>
              <a:t>Baseline: 5–7 Days. Result: 5–7 Days.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Scenario 2: Fresh Banana in Refrigerator (4°C): </a:t>
            </a:r>
            <a:r>
              <a:rPr b="0">
                <a:solidFill>
                  <a:srgbClr val="64748B"/>
                </a:solidFill>
              </a:rPr>
              <a:t>Temp + Storage Adjustment. Result: 12–15 Days.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Scenario 3: Semi-Fresh Tomato @ High Heat (34°C): </a:t>
            </a:r>
            <a:r>
              <a:rPr b="0">
                <a:solidFill>
                  <a:srgbClr val="64748B"/>
                </a:solidFill>
              </a:rPr>
              <a:t>Accelerated spoilage factor applied. Result: 1–2 Days.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Scenario 4: Rotten Fruit Detected: </a:t>
            </a:r>
            <a:r>
              <a:rPr b="0">
                <a:solidFill>
                  <a:srgbClr val="64748B"/>
                </a:solidFill>
              </a:rPr>
              <a:t>Shelf life automatically clamped to 0 Days with safety alert.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UX &amp;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User Experience &amp; Scanning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1. Input Capture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Live Viewfinder: </a:t>
            </a:r>
            <a:r>
              <a:rPr b="0">
                <a:solidFill>
                  <a:srgbClr val="64748B"/>
                </a:solidFill>
              </a:rPr>
              <a:t>In-browser camera stream with visual fruit framing reticle.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Camera Switcher: </a:t>
            </a:r>
            <a:r>
              <a:rPr b="0">
                <a:solidFill>
                  <a:srgbClr val="64748B"/>
                </a:solidFill>
              </a:rPr>
              <a:t>Seamless toggle between front and rear cameras on mobile.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File &amp; Native Camera: </a:t>
            </a:r>
            <a:r>
              <a:rPr b="0">
                <a:solidFill>
                  <a:srgbClr val="64748B"/>
                </a:solidFill>
              </a:rPr>
              <a:t>One-click access to native phone camera and file uploads.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2. Environmental Inputs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Temperature Slider: </a:t>
            </a:r>
            <a:r>
              <a:rPr b="0">
                <a:solidFill>
                  <a:srgbClr val="64748B"/>
                </a:solidFill>
              </a:rPr>
              <a:t>User inputs ambient temperature (°C) with presets.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Humidity Control: </a:t>
            </a:r>
            <a:r>
              <a:rPr b="0">
                <a:solidFill>
                  <a:srgbClr val="64748B"/>
                </a:solidFill>
              </a:rPr>
              <a:t>Selects relative humidity percentage (%).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Storage Selector: </a:t>
            </a:r>
            <a:r>
              <a:rPr b="0">
                <a:solidFill>
                  <a:srgbClr val="64748B"/>
                </a:solidFill>
              </a:rPr>
              <a:t>Chooses storage type (Room Temp, Fridge, Pantry, Freezer).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3. Real-Time Feedback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Progressive Feedback: </a:t>
            </a:r>
            <a:r>
              <a:rPr b="0">
                <a:solidFill>
                  <a:srgbClr val="64748B"/>
                </a:solidFill>
              </a:rPr>
              <a:t>Animated indicator: Uploading → Identifying → Estimating.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Fast Response: </a:t>
            </a:r>
            <a:r>
              <a:rPr b="0">
                <a:solidFill>
                  <a:srgbClr val="64748B"/>
                </a:solidFill>
              </a:rPr>
              <a:t>Instant redirect to detailed results page once scan completes.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Error Recovery: </a:t>
            </a:r>
            <a:r>
              <a:rPr b="0">
                <a:solidFill>
                  <a:srgbClr val="64748B"/>
                </a:solidFill>
              </a:rPr>
              <a:t>Clear guidance if image is blurry or unsupported.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RESULTS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Explainable AI &amp; Results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UI COMPONENTS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Core Dashboard Components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Produce Identity Card: </a:t>
            </a:r>
            <a:r>
              <a:rPr b="0">
                <a:solidFill>
                  <a:srgbClr val="64748B"/>
                </a:solidFill>
              </a:rPr>
              <a:t>Displays item name, category badge, and AI confidence level (e.g. 98%).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Freshness Meter: </a:t>
            </a:r>
            <a:r>
              <a:rPr b="0">
                <a:solidFill>
                  <a:srgbClr val="64748B"/>
                </a:solidFill>
              </a:rPr>
              <a:t>Color-coded gauge from 0 to 100 (Green = Fresh, Amber = Semi-Fresh, Red = Rotten).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Shelf-Life Range: </a:t>
            </a:r>
            <a:r>
              <a:rPr b="0">
                <a:solidFill>
                  <a:srgbClr val="64748B"/>
                </a:solidFill>
              </a:rPr>
              <a:t>Clear Min–Max days count with storage condition indicator.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Environmental Summary: </a:t>
            </a:r>
            <a:r>
              <a:rPr b="0">
                <a:solidFill>
                  <a:srgbClr val="64748B"/>
                </a:solidFill>
              </a:rPr>
              <a:t>Recap of temperature, humidity, and storage context used for the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EXPLAINABILITY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Explainability &amp; Recommendations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Transparent Reasoning: </a:t>
            </a:r>
            <a:r>
              <a:rPr b="0">
                <a:solidFill>
                  <a:srgbClr val="64748B"/>
                </a:solidFill>
              </a:rPr>
              <a:t>Bullet list detailing every contributing factor (AI visual analysis + temperature impact + storage method).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Actionable Recommendations: </a:t>
            </a:r>
            <a:r>
              <a:rPr b="0">
                <a:solidFill>
                  <a:srgbClr val="64748B"/>
                </a:solidFill>
              </a:rPr>
              <a:t>Actionable advice based on condition (e.g. 'Good condition. Consider refrigerating to extend freshness').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Food Safety Warnings: </a:t>
            </a:r>
            <a:r>
              <a:rPr b="0">
                <a:solidFill>
                  <a:srgbClr val="64748B"/>
                </a:solidFill>
              </a:rPr>
              <a:t>Clear safety disclaimer reminding consumers to physically check produce before consumption.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Data Persistence &amp; Scan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SCHEMA DESIGN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MongoDB Atlas Schema (`ProduceScan`)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Image Metadata: </a:t>
            </a:r>
            <a:r>
              <a:rPr b="0">
                <a:solidFill>
                  <a:srgbClr val="64748B"/>
                </a:solidFill>
              </a:rPr>
              <a:t>Stores base64 / image URI along with scan timestamp.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AI Predictions: </a:t>
            </a:r>
            <a:r>
              <a:rPr b="0">
                <a:solidFill>
                  <a:srgbClr val="64748B"/>
                </a:solidFill>
              </a:rPr>
              <a:t>Produce type, condition, freshness score, confidence rating.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Environmental Parameters: </a:t>
            </a:r>
            <a:r>
              <a:rPr b="0">
                <a:solidFill>
                  <a:srgbClr val="64748B"/>
                </a:solidFill>
              </a:rPr>
              <a:t>Recorded temperature (°C), humidity (%), and storage mode.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Lifespan Estimates: </a:t>
            </a:r>
            <a:r>
              <a:rPr b="0">
                <a:solidFill>
                  <a:srgbClr val="64748B"/>
                </a:solidFill>
              </a:rPr>
              <a:t>Calculated minimum and maximum shelf-life days.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Explanations &amp; Advice: </a:t>
            </a:r>
            <a:r>
              <a:rPr b="0">
                <a:solidFill>
                  <a:srgbClr val="64748B"/>
                </a:solidFill>
              </a:rPr>
              <a:t>Full list of explainability notes and recommendation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USER FEATURES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Scan History Feature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Historical Records: </a:t>
            </a:r>
            <a:r>
              <a:rPr b="0">
                <a:solidFill>
                  <a:srgbClr val="64748B"/>
                </a:solidFill>
              </a:rPr>
              <a:t>Dedicated `/history` page displaying all past user analyses.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Timeline View: </a:t>
            </a:r>
            <a:r>
              <a:rPr b="0">
                <a:solidFill>
                  <a:srgbClr val="64748B"/>
                </a:solidFill>
              </a:rPr>
              <a:t>Chronological list with produce emoji, freshness badge, and date.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Instant Recall: </a:t>
            </a:r>
            <a:r>
              <a:rPr b="0">
                <a:solidFill>
                  <a:srgbClr val="64748B"/>
                </a:solidFill>
              </a:rPr>
              <a:t>Click any previous scan to revisit the complete interactive result dashboard.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Connection Pooling: </a:t>
            </a:r>
            <a:r>
              <a:rPr b="0">
                <a:solidFill>
                  <a:srgbClr val="64748B"/>
                </a:solidFill>
              </a:rPr>
              <a:t>Global Mongoose connection caching to prevent connection exhaustion in serverless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Performance Benchmarks &amp;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PERFORMANCE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Speed &amp; Efficiency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&lt; 250ms ML Inference: </a:t>
            </a:r>
            <a:r>
              <a:rPr b="0">
                <a:solidFill>
                  <a:srgbClr val="64748B"/>
                </a:solidFill>
              </a:rPr>
              <a:t>Fast image processing on CPU.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Single Model Load: </a:t>
            </a:r>
            <a:r>
              <a:rPr b="0">
                <a:solidFill>
                  <a:srgbClr val="64748B"/>
                </a:solidFill>
              </a:rPr>
              <a:t>Persistent model in memory avoids cold start penalties.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Sub-Second Full Flow: </a:t>
            </a:r>
            <a:r>
              <a:rPr b="0">
                <a:solidFill>
                  <a:srgbClr val="64748B"/>
                </a:solidFill>
              </a:rPr>
              <a:t>End-to-end API response under 800ms.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MODEL COVERAGE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Accuracy &amp; Coverage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24 Classes: </a:t>
            </a:r>
            <a:r>
              <a:rPr b="0">
                <a:solidFill>
                  <a:srgbClr val="64748B"/>
                </a:solidFill>
              </a:rPr>
              <a:t>Comprehensive coverage of 8 major produce varieties.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3-Stage Ripeness: </a:t>
            </a:r>
            <a:r>
              <a:rPr b="0">
                <a:solidFill>
                  <a:srgbClr val="64748B"/>
                </a:solidFill>
              </a:rPr>
              <a:t>Distinguishes fresh, semi-fresh, and spoiled states.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Confidence Gate: </a:t>
            </a:r>
            <a:r>
              <a:rPr b="0">
                <a:solidFill>
                  <a:srgbClr val="64748B"/>
                </a:solidFill>
              </a:rPr>
              <a:t>Rejects low-confidence/unsupported images gracefully.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ROBUSTNESS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Architecture Strengths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Decoupled Stack: </a:t>
            </a:r>
            <a:r>
              <a:rPr b="0">
                <a:solidFill>
                  <a:srgbClr val="64748B"/>
                </a:solidFill>
              </a:rPr>
              <a:t>Independent Next.js frontend and FastAPI ML service.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Vercel Ready: </a:t>
            </a:r>
            <a:r>
              <a:rPr b="0">
                <a:solidFill>
                  <a:srgbClr val="64748B"/>
                </a:solidFill>
              </a:rPr>
              <a:t>Production-optimized build with 0 TypeScript/ESLint errors.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Secure Camera Access: </a:t>
            </a:r>
            <a:r>
              <a:rPr b="0">
                <a:solidFill>
                  <a:srgbClr val="64748B"/>
                </a:solidFill>
              </a:rPr>
              <a:t>HTTPS compliance for seamless browser camera permissions.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Cloud Deployment &amp; Production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VERCEL HOSTING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Frontend on Vercel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Global Edge CDN: </a:t>
            </a:r>
            <a:r>
              <a:rPr b="0">
                <a:solidFill>
                  <a:srgbClr val="64748B"/>
                </a:solidFill>
              </a:rPr>
              <a:t>High-performance distribution with sub-100ms global delivery.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Automatic HTTPS: </a:t>
            </a:r>
            <a:r>
              <a:rPr b="0">
                <a:solidFill>
                  <a:srgbClr val="64748B"/>
                </a:solidFill>
              </a:rPr>
              <a:t>Mandatory TLS certificates ensure camera API permissions work everywhere.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Environment Variables: </a:t>
            </a:r>
            <a:r>
              <a:rPr b="0">
                <a:solidFill>
                  <a:srgbClr val="64748B"/>
                </a:solidFill>
              </a:rPr>
              <a:t>Secure injection of `MONGODB_URI` and `ML_SERVER_URL`.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Optimized Bundles: </a:t>
            </a:r>
            <a:r>
              <a:rPr b="0">
                <a:solidFill>
                  <a:srgbClr val="64748B"/>
                </a:solidFill>
              </a:rPr>
              <a:t>Turbopack static pre-rendering with React Suspense boundaries.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BACKEND &amp; DATA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Backend &amp; Database Cloud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FastAPI Container: </a:t>
            </a:r>
            <a:r>
              <a:rPr b="0">
                <a:solidFill>
                  <a:srgbClr val="64748B"/>
                </a:solidFill>
              </a:rPr>
              <a:t>Deployable on Render, Railway, or Hugging Face Spaces.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MongoDB Atlas: </a:t>
            </a:r>
            <a:r>
              <a:rPr b="0">
                <a:solidFill>
                  <a:srgbClr val="64748B"/>
                </a:solidFill>
              </a:rPr>
              <a:t>Serverless cloud database with automated replication and backups.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CORS &amp; Proxying: </a:t>
            </a:r>
            <a:r>
              <a:rPr b="0">
                <a:solidFill>
                  <a:srgbClr val="64748B"/>
                </a:solidFill>
              </a:rPr>
              <a:t>Next.js API route proxies multipart form data securely to ML server.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Zero Local Storage Dependencies: </a:t>
            </a:r>
            <a:r>
              <a:rPr b="0">
                <a:solidFill>
                  <a:srgbClr val="64748B"/>
                </a:solidFill>
              </a:rPr>
              <a:t>Entire pipeline processes files in-memory and in cloud 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532D"/>
                </a:solidFill>
              </a:defRPr>
            </a:pPr>
            <a:r>
              <a:t>Future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ROADMAP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Multi-Item Object Detection: </a:t>
            </a:r>
            <a:r>
              <a:rPr b="0">
                <a:solidFill>
                  <a:srgbClr val="64748B"/>
                </a:solidFill>
              </a:rPr>
              <a:t>Upgrade to multi-fruit bounding box detection for scanning whole fruit bowls.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Smart Fridge IoT Integration: </a:t>
            </a:r>
            <a:r>
              <a:rPr b="0">
                <a:solidFill>
                  <a:srgbClr val="64748B"/>
                </a:solidFill>
              </a:rPr>
              <a:t>Connect with camera-equipped smart refrigerators for automatic inventory monitoring.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Recipe Recommendation Engine: </a:t>
            </a:r>
            <a:r>
              <a:rPr b="0">
                <a:solidFill>
                  <a:srgbClr val="64748B"/>
                </a:solidFill>
              </a:rPr>
              <a:t>Suggest recipes to use up semi-fresh produce before it spoils.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Mobile App Release: </a:t>
            </a:r>
            <a:r>
              <a:rPr b="0">
                <a:solidFill>
                  <a:srgbClr val="64748B"/>
                </a:solidFill>
              </a:rPr>
              <a:t>Publish dedicated iOS/Android apps with offline caching.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CONCLUSION</a:t>
            </a:r>
          </a:p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Project Summary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Impact: </a:t>
            </a:r>
            <a:r>
              <a:rPr b="0">
                <a:solidFill>
                  <a:srgbClr val="64748B"/>
                </a:solidFill>
              </a:rPr>
              <a:t>Delivers a practical, accessible AI tool to reduce global household and retail food waste.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Technical Milestone: </a:t>
            </a:r>
            <a:r>
              <a:rPr b="0">
                <a:solidFill>
                  <a:srgbClr val="64748B"/>
                </a:solidFill>
              </a:rPr>
              <a:t>Seamlessly integrates custom YOLO computer vision with environmental shelf-life logic.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Production Ready: </a:t>
            </a:r>
            <a:r>
              <a:rPr b="0">
                <a:solidFill>
                  <a:srgbClr val="64748B"/>
                </a:solidFill>
              </a:rPr>
              <a:t>Complete full-stack system with modern UI, explainability, and cloud persistence.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</a:defRPr>
            </a:pPr>
            <a:r>
              <a:t>• Thank You!: </a:t>
            </a:r>
            <a:r>
              <a:rPr b="0">
                <a:solidFill>
                  <a:srgbClr val="64748B"/>
                </a:solidFill>
              </a:rPr>
              <a:t>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